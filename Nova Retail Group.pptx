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731520"/>
            <a:ext cx="2194560" cy="2194560"/>
          </a:xfrm>
          <a:prstGeom prst="ellipse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29800" y="2514600"/>
            <a:ext cx="1325880" cy="1325880"/>
          </a:xfrm>
          <a:prstGeom prst="ellipse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2788920"/>
            <a:ext cx="1051560" cy="1051560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6949440" cy="1554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DATA ANALYTICS</a:t>
            </a:r>
            <a:br/>
            <a:r>
              <a:t>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685800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000" b="0">
                <a:solidFill>
                  <a:srgbClr val="DAE7F1"/>
                </a:solidFill>
                <a:latin typeface="Aptos"/>
              </a:defRPr>
            </a:pPr>
            <a:r>
              <a:t>Learning journey, projects and problem-solving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667512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ECB548"/>
                </a:solidFill>
                <a:latin typeface="Aptos"/>
              </a:defRPr>
            </a:pPr>
            <a:r>
              <a:t>Project focus: Nova Retail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640080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Onalenna Nakedi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38928"/>
            <a:ext cx="54864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B9CADC"/>
                </a:solidFill>
                <a:latin typeface="Aptos"/>
              </a:defRPr>
            </a:pPr>
            <a:r>
              <a:t>Bootcamp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What I learned during the bootcamp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My learning covered data preparation, analysis and communicating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169164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169164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56816"/>
            <a:ext cx="31272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3127248" cy="11247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Understanding tables, columns, missing values and data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74720" cy="169164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73152" cy="169164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56816"/>
            <a:ext cx="31272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127248" cy="11247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Using questions, comparisons and calculations to explore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169164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73152" cy="169164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56816"/>
            <a:ext cx="31272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31720"/>
            <a:ext cx="3127248" cy="11247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Explaining results clearly so people can use them to make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21031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1">
                <a:solidFill>
                  <a:srgbClr val="1F9191"/>
                </a:solidFill>
                <a:latin typeface="Aptos"/>
              </a:defRPr>
            </a:pPr>
            <a:r>
              <a:t>My key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042416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200" b="1">
                <a:solidFill>
                  <a:srgbClr val="18274B"/>
                </a:solidFill>
                <a:latin typeface="Aptos"/>
              </a:defRPr>
            </a:pPr>
            <a:r>
              <a:t>A good analysis starts with the right question, uses checked data, and explains what the results mean.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Tools and skills I developed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Different tools support different stages of the data analysis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73152" cy="14173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02536"/>
            <a:ext cx="481888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39"/>
            <a:ext cx="481888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Organising data, checking values and performing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73152" cy="141732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2002536"/>
            <a:ext cx="481888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77439"/>
            <a:ext cx="481888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Retrieving, filtering and summarising data from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41732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831335"/>
            <a:ext cx="481888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481888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Using code to load and explore data and check data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73152" cy="141732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3831335"/>
            <a:ext cx="481888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206240"/>
            <a:ext cx="481888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Turning data into visuals that help explain business performance.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697482"/>
                </a:solidFill>
                <a:latin typeface="Aptos"/>
              </a:defRPr>
            </a:pPr>
            <a:r>
              <a:t>Data ethics &amp; privacy: use data responsibly, protect personal information, and respect GDPR and South Africa's POPIA.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188720"/>
            <a:ext cx="822960" cy="64008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863840" cy="384048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 understand why data needs to be checked before analysis.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 can explain the different roles of Excel, SQL, Python and Power BI.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 learned to break a business question into manageable steps.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 am still developing my skills by practising with real project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2240280"/>
            <a:ext cx="292608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700" b="1">
                <a:solidFill>
                  <a:srgbClr val="ECB548"/>
                </a:solidFill>
                <a:latin typeface="Aptos"/>
              </a:defRPr>
            </a:pPr>
            <a:r>
              <a:t>NEXT: NOVA RETAIL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246120"/>
            <a:ext cx="2926080" cy="822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From learning the tools to applying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Project 1: Entity-Relationship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Nova Retail Group | The ERD shows how the main tables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38912"/>
            <a:ext cx="201168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900" b="1">
                <a:solidFill>
                  <a:srgbClr val="2458A6"/>
                </a:solidFill>
                <a:latin typeface="Aptos"/>
              </a:defRPr>
            </a:pPr>
            <a:r>
              <a:t>PROJECT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68880" cy="1828800"/>
          </a:xfrm>
          <a:prstGeom prst="roundRect">
            <a:avLst/>
          </a:prstGeom>
          <a:solidFill>
            <a:srgbClr val="E7F0FF"/>
          </a:solidFill>
          <a:ln>
            <a:solidFill>
              <a:srgbClr val="24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2249424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300" b="1">
                <a:solidFill>
                  <a:srgbClr val="18274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40280"/>
            <a:ext cx="2249424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2176272" cy="12618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PK customer_id</a:t>
            </a:r>
            <a:br/>
            <a:r>
              <a:t>first_name</a:t>
            </a:r>
            <a:br/>
            <a:r>
              <a:t>last_name</a:t>
            </a:r>
            <a:br/>
            <a:r>
              <a:t>gender</a:t>
            </a:r>
            <a:br/>
            <a:r>
              <a:t>loyalty_tier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60320" cy="1828800"/>
          </a:xfrm>
          <a:prstGeom prst="roundRect">
            <a:avLst/>
          </a:prstGeom>
          <a:solidFill>
            <a:srgbClr val="F4EEFF"/>
          </a:solidFill>
          <a:ln>
            <a:solidFill>
              <a:srgbClr val="76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920240"/>
            <a:ext cx="2340863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300" b="1">
                <a:solidFill>
                  <a:srgbClr val="18274B"/>
                </a:solidFill>
                <a:latin typeface="Aptos"/>
              </a:defRPr>
            </a:pPr>
            <a:r>
              <a:t>CUSTOMER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67328" y="2240280"/>
            <a:ext cx="2340863" cy="2286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03904" y="2331720"/>
            <a:ext cx="2267712" cy="12618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PK feedback_id</a:t>
            </a:r>
            <a:br/>
            <a:r>
              <a:t>FK customer_id</a:t>
            </a:r>
            <a:br/>
            <a:r>
              <a:t>FK order_id</a:t>
            </a:r>
            <a:br/>
            <a:r>
              <a:t>rating</a:t>
            </a:r>
            <a:br/>
            <a:r>
              <a:t>comments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2286000" cy="1828800"/>
          </a:xfrm>
          <a:prstGeom prst="roundRect">
            <a:avLst/>
          </a:prstGeom>
          <a:solidFill>
            <a:srgbClr val="FFF8DC"/>
          </a:solidFill>
          <a:ln>
            <a:solidFill>
              <a:srgbClr val="ECB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4927" y="1920240"/>
            <a:ext cx="2066543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300" b="1">
                <a:solidFill>
                  <a:srgbClr val="18274B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7" y="2240280"/>
            <a:ext cx="2066543" cy="2286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61504" y="2331720"/>
            <a:ext cx="1993392" cy="12618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PK product_id</a:t>
            </a:r>
            <a:br/>
            <a:r>
              <a:t>product_name</a:t>
            </a:r>
            <a:br/>
            <a:r>
              <a:t>category</a:t>
            </a:r>
            <a:br/>
            <a:r>
              <a:t>unit_cost</a:t>
            </a:r>
            <a:br/>
            <a:r>
              <a:t>unit_price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251960"/>
            <a:ext cx="2560320" cy="1508760"/>
          </a:xfrm>
          <a:prstGeom prst="roundRect">
            <a:avLst/>
          </a:prstGeom>
          <a:solidFill>
            <a:srgbClr val="F4EEFF"/>
          </a:solidFill>
          <a:ln>
            <a:solidFill>
              <a:srgbClr val="76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67328" y="4343400"/>
            <a:ext cx="2340863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300" b="1">
                <a:solidFill>
                  <a:srgbClr val="18274B"/>
                </a:solidFill>
                <a:latin typeface="Aptos"/>
              </a:defRPr>
            </a:pPr>
            <a:r>
              <a:t>SALES / 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4663440"/>
            <a:ext cx="2340863" cy="2286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03904" y="4754880"/>
            <a:ext cx="2267712" cy="9418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PK item_id</a:t>
            </a:r>
            <a:br/>
            <a:r>
              <a:t>FK transaction_id</a:t>
            </a:r>
            <a:br/>
            <a:r>
              <a:t>FK product_id</a:t>
            </a:r>
            <a:br/>
            <a:r>
              <a:t>quantity</a:t>
            </a:r>
            <a:br/>
            <a:r>
              <a:t>unit_price_at_sale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2743200"/>
            <a:ext cx="548640" cy="0"/>
          </a:xfrm>
          <a:prstGeom prst="line">
            <a:avLst/>
          </a:prstGeom>
          <a:ln w="2540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37760" y="3657600"/>
            <a:ext cx="0" cy="594360"/>
          </a:xfrm>
          <a:prstGeom prst="line">
            <a:avLst/>
          </a:prstGeom>
          <a:ln w="25400">
            <a:solidFill>
              <a:srgbClr val="76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217920" y="2926080"/>
            <a:ext cx="1097280" cy="1874520"/>
          </a:xfrm>
          <a:prstGeom prst="line">
            <a:avLst/>
          </a:prstGeom>
          <a:ln w="25400">
            <a:solidFill>
              <a:srgbClr val="ECB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Project 2: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438912"/>
            <a:ext cx="201168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900" b="1">
                <a:solidFill>
                  <a:srgbClr val="2458A6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9319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39319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65376"/>
            <a:ext cx="317296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BASIC — select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3172968" cy="336499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Retrieve product IDs and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3154680" cy="1005840"/>
          </a:xfrm>
          <a:prstGeom prst="roundRect">
            <a:avLst/>
          </a:prstGeom>
          <a:solidFill>
            <a:srgbClr val="F6F8FC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715768"/>
            <a:ext cx="2825496" cy="822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400" b="0">
                <a:solidFill>
                  <a:srgbClr val="18274B"/>
                </a:solidFill>
                <a:latin typeface="Consolas"/>
              </a:defRPr>
            </a:pPr>
            <a:r>
              <a:t>SELECT product_id, product_name</a:t>
            </a:r>
            <a:br/>
            <a:r>
              <a:t>FROM products;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0480"/>
            <a:ext cx="3017520" cy="6858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This selects two columns from the products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520440" cy="39319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73152" cy="393192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865376"/>
            <a:ext cx="317296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MEDIUM — filter and 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40280"/>
            <a:ext cx="3172968" cy="336499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Find products in a chosen category and sort by price.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606040"/>
            <a:ext cx="3154680" cy="1508760"/>
          </a:xfrm>
          <a:prstGeom prst="roundRect">
            <a:avLst/>
          </a:prstGeom>
          <a:solidFill>
            <a:srgbClr val="F6F8FC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2715768"/>
            <a:ext cx="2825496" cy="1325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400" b="0">
                <a:solidFill>
                  <a:srgbClr val="18274B"/>
                </a:solidFill>
                <a:latin typeface="Consolas"/>
              </a:defRPr>
            </a:pPr>
            <a:r>
              <a:t>SELECT product_name, unit_price</a:t>
            </a:r>
            <a:br/>
            <a:r>
              <a:t>FROM products</a:t>
            </a:r>
            <a:br/>
            <a:r>
              <a:t>WHERE category = 'Groceries'</a:t>
            </a:r>
            <a:br/>
            <a:r>
              <a:t>ORDER BY unit_price DESC;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343400"/>
            <a:ext cx="301752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WHERE filters rows; ORDER BY sorts the results.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737360"/>
            <a:ext cx="3520440" cy="39319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01000" y="1737360"/>
            <a:ext cx="73152" cy="393192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2168" y="1865376"/>
            <a:ext cx="317296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HARDER — join and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2240280"/>
            <a:ext cx="3172968" cy="336499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300" b="0">
                <a:solidFill>
                  <a:srgbClr val="2C3645"/>
                </a:solidFill>
                <a:latin typeface="Aptos"/>
              </a:defRPr>
            </a:pPr>
            <a:r>
              <a:t>Calculate revenue by product category.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606040"/>
            <a:ext cx="3154680" cy="1874519"/>
          </a:xfrm>
          <a:prstGeom prst="roundRect">
            <a:avLst/>
          </a:prstGeom>
          <a:solidFill>
            <a:srgbClr val="F6F8FC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1" y="2715768"/>
            <a:ext cx="2825496" cy="1691639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400" b="0">
                <a:solidFill>
                  <a:srgbClr val="18274B"/>
                </a:solidFill>
                <a:latin typeface="Consolas"/>
              </a:defRPr>
            </a:pPr>
            <a:r>
              <a:t>SELECT p.category,</a:t>
            </a:r>
            <a:br/>
            <a:r>
              <a:t>       SUM(i.quantity * i.unit_price_at_sale) AS sales</a:t>
            </a:r>
            <a:br/>
            <a:r>
              <a:t>FROM transaction_items i</a:t>
            </a:r>
            <a:br/>
            <a:r>
              <a:t>JOIN products p ON i.product_id = p.product_id</a:t>
            </a:r>
            <a:br/>
            <a:r>
              <a:t>GROUP BY p.category;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572000"/>
            <a:ext cx="3017520" cy="7315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JOIN connects tables; GROUP BY summarises each category. This example uses pre-discount line sales.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Project skill: Data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Preparing reliable data before analysis | Nova Retail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52044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14173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65376"/>
            <a:ext cx="317296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1. Check 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0280"/>
            <a:ext cx="317296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Identify blank customer IDs and incomplete customer fields. Decide whether to retain, exclude or label missing data based on the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73152" cy="141732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865376"/>
            <a:ext cx="317296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2. Standardise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40280"/>
            <a:ext cx="317296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Clean inconsistent text such as province names with different capitalisation, so the same region is not counted as two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52044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73152" cy="141732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865376"/>
            <a:ext cx="317296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3. Check data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40280"/>
            <a:ext cx="317296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Make sure dates are dates, quantities are numeric, and prices/costs are numeric before calculations or visuals.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5212080" cy="150876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20440"/>
            <a:ext cx="73152" cy="15087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648456"/>
            <a:ext cx="486460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4. Check duplicates and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23360"/>
            <a:ext cx="4864608" cy="9418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Check repeated IDs, unique keys and whether transaction items match valid transactions and products. Avoid accidental double-counting when joining tables.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212080" cy="150876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73152" cy="150876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648456"/>
            <a:ext cx="486460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5. Validate 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023360"/>
            <a:ext cx="4864608" cy="9418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Reconcile row counts and totals, check discount interpretation, and compare results before and after cleaning. Document assumptions instead of silently changing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Why it matters: clean, consistent data makes the dashboard more accurate and helps prevent misleading business conclusions.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Project 3: 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Sales performance overview | Nova Retail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38912"/>
            <a:ext cx="201168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900" b="1">
                <a:solidFill>
                  <a:srgbClr val="2458A6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0">
                <a:solidFill>
                  <a:srgbClr val="2C3645"/>
                </a:solidFill>
                <a:latin typeface="Aptos"/>
              </a:defRPr>
            </a:pPr>
            <a:r>
              <a:t>Power BI helps turn data into interactive visuals so decision-makers can compare performance and investigate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14884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450592"/>
            <a:ext cx="196596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900" b="1">
                <a:solidFill>
                  <a:srgbClr val="2458A6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743200"/>
            <a:ext cx="2011680" cy="32918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R2,894,523.87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1" y="2331720"/>
            <a:ext cx="214884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2450592"/>
            <a:ext cx="196596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900" b="1">
                <a:solidFill>
                  <a:srgbClr val="2458A6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3" y="2743200"/>
            <a:ext cx="2011680" cy="32918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R991,902.87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2331720"/>
            <a:ext cx="214884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8383" y="2450592"/>
            <a:ext cx="196596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900" b="1">
                <a:solidFill>
                  <a:srgbClr val="2458A6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743200"/>
            <a:ext cx="2011680" cy="32918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34.27%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0375" y="2331720"/>
            <a:ext cx="214884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71815" y="2450592"/>
            <a:ext cx="196596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900" b="1">
                <a:solidFill>
                  <a:srgbClr val="2458A6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2743200"/>
            <a:ext cx="2011680" cy="32918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9,164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93807" y="2331720"/>
            <a:ext cx="214884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85247" y="2450592"/>
            <a:ext cx="196596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900" b="1">
                <a:solidFill>
                  <a:srgbClr val="2458A6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9" y="2743200"/>
            <a:ext cx="2011680" cy="32918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R315.86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384048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1">
                <a:solidFill>
                  <a:srgbClr val="18274B"/>
                </a:solidFill>
                <a:latin typeface="Aptos"/>
              </a:defRPr>
            </a:pPr>
            <a:r>
              <a:t>Revenue by month</a:t>
            </a:r>
          </a:p>
        </p:txBody>
      </p:sp>
      <p:sp>
        <p:nvSpPr>
          <p:cNvPr id="23" name="Oval 22"/>
          <p:cNvSpPr/>
          <p:nvPr/>
        </p:nvSpPr>
        <p:spPr>
          <a:xfrm>
            <a:off x="832103" y="4432168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1802" y="5358384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868680" y="4468744"/>
            <a:ext cx="279698" cy="926216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391501" y="4475631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V="1">
            <a:off x="1148378" y="4512207"/>
            <a:ext cx="279699" cy="882753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671200" y="4855155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1428077" y="4512207"/>
            <a:ext cx="279699" cy="379524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950899" y="4381263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V="1">
            <a:off x="1707776" y="4417839"/>
            <a:ext cx="279699" cy="473892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230598" y="4411960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1987475" y="4417839"/>
            <a:ext cx="279699" cy="30697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510296" y="4289295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V="1">
            <a:off x="2267174" y="4325871"/>
            <a:ext cx="279698" cy="122665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789995" y="4628896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2546872" y="4325871"/>
            <a:ext cx="279699" cy="339601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069694" y="4745338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2826571" y="4665472"/>
            <a:ext cx="279699" cy="116442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349393" y="4509396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 flipV="1">
            <a:off x="3106270" y="4545972"/>
            <a:ext cx="279699" cy="235942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629092" y="4768160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3385969" y="4545972"/>
            <a:ext cx="279699" cy="258764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908791" y="4490598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 flipV="1">
            <a:off x="3665668" y="4527174"/>
            <a:ext cx="279699" cy="277562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188489" y="4249236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 flipV="1">
            <a:off x="3945367" y="4285812"/>
            <a:ext cx="279698" cy="241362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468188" y="4673011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4225065" y="4285812"/>
            <a:ext cx="279699" cy="423775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747887" y="4123944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 flipV="1">
            <a:off x="4504764" y="4160520"/>
            <a:ext cx="279699" cy="549067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027586" y="4674783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4784463" y="4160520"/>
            <a:ext cx="279699" cy="550839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307285" y="4410428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 flipV="1">
            <a:off x="5064162" y="4447004"/>
            <a:ext cx="279699" cy="264355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586984" y="4325142"/>
            <a:ext cx="73152" cy="73152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 flipV="1">
            <a:off x="5343861" y="4361718"/>
            <a:ext cx="279699" cy="85286"/>
          </a:xfrm>
          <a:prstGeom prst="line">
            <a:avLst/>
          </a:prstGeom>
          <a:ln w="190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22960" y="5486400"/>
            <a:ext cx="109728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0">
                <a:solidFill>
                  <a:srgbClr val="697482"/>
                </a:solidFill>
                <a:latin typeface="Aptos"/>
              </a:defRPr>
            </a:pPr>
            <a:r>
              <a:t>Jan 2024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5486400"/>
            <a:ext cx="109728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900" b="0">
                <a:solidFill>
                  <a:srgbClr val="697482"/>
                </a:solidFill>
                <a:latin typeface="Aptos"/>
              </a:defRPr>
            </a:pPr>
            <a:r>
              <a:t>Jun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657600"/>
            <a:ext cx="292608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600" b="1">
                <a:solidFill>
                  <a:srgbClr val="18274B"/>
                </a:solidFill>
                <a:latin typeface="Aptos"/>
              </a:defRPr>
            </a:pPr>
            <a:r>
              <a:t>Revenue by category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096512"/>
            <a:ext cx="150876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Groceries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4123944"/>
            <a:ext cx="2651760" cy="1371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497312" y="4096512"/>
            <a:ext cx="118872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2458A6"/>
                </a:solidFill>
                <a:latin typeface="Aptos"/>
              </a:defRPr>
            </a:pPr>
            <a:r>
              <a:t>R1,508,321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4407408"/>
            <a:ext cx="150876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Household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4434840"/>
            <a:ext cx="1016644" cy="1371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862196" y="4407408"/>
            <a:ext cx="118872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2458A6"/>
                </a:solidFill>
                <a:latin typeface="Aptos"/>
              </a:defRPr>
            </a:pPr>
            <a:r>
              <a:t>R578,267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4718304"/>
            <a:ext cx="150876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Apparel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4745736"/>
            <a:ext cx="616084" cy="1371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461636" y="4718304"/>
            <a:ext cx="118872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2458A6"/>
                </a:solidFill>
                <a:latin typeface="Aptos"/>
              </a:defRPr>
            </a:pPr>
            <a:r>
              <a:t>R350,429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5029200"/>
            <a:ext cx="150876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Health &amp; Beauty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5056632"/>
            <a:ext cx="604024" cy="1371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49576" y="5029200"/>
            <a:ext cx="118872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2458A6"/>
                </a:solidFill>
                <a:latin typeface="Aptos"/>
              </a:defRPr>
            </a:pPr>
            <a:r>
              <a:t>R343,569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5340096"/>
            <a:ext cx="150876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5367528"/>
            <a:ext cx="200314" cy="1371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45866" y="5340096"/>
            <a:ext cx="1188720" cy="210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1">
                <a:solidFill>
                  <a:srgbClr val="2458A6"/>
                </a:solidFill>
                <a:latin typeface="Aptos"/>
              </a:defRPr>
            </a:pPr>
            <a:r>
              <a:t>R113,939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Power BI: DAX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DAX formulas turn the project data into reusable business 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23444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23444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9560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94560"/>
            <a:ext cx="4956048" cy="6675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Total Revenue = SUMX('Transaction Items', 'Transaction Items'[quantity] * 'Transaction Items'[unit_price_at_sale])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23444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73152" cy="123444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819656"/>
            <a:ext cx="49560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956048" cy="6675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Total Profit = [Total Revenue] - SUMX('Transaction Items', 'Transaction Items'[quantity] * RELATED(Products[unit_cost]))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303520" cy="123444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73152" cy="123444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9560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Profit Margin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03320"/>
            <a:ext cx="4956048" cy="6675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Profit Margin % = DIVIDE([Total Profit], [Total Revenue], 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303520" cy="123444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200400"/>
            <a:ext cx="73152" cy="123444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328416"/>
            <a:ext cx="49560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03320"/>
            <a:ext cx="4956048" cy="6675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Total Orders = DISTINCTCOUNT(Transactions[transaction_id])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09160"/>
            <a:ext cx="5303520" cy="105156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709160"/>
            <a:ext cx="73152" cy="10515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837176"/>
            <a:ext cx="495604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212080"/>
            <a:ext cx="4956048" cy="4846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Average Order Value = DIVIDE([Total Revenue], [Total Orders],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00600"/>
            <a:ext cx="5074920" cy="868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697482"/>
                </a:solidFill>
                <a:latin typeface="Aptos"/>
              </a:defRPr>
            </a:pPr>
            <a:r>
              <a:t>Note: table and column names must match the names used in the Power BI model. These are example measures; discount handling must match the project definition.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Power BI: insights and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697482"/>
                </a:solidFill>
                <a:latin typeface="Aptos"/>
              </a:defRPr>
            </a:pPr>
            <a:r>
              <a:t>Initial findings calculated from the supplied sales, product, transaction and store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38912"/>
            <a:ext cx="201168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900" b="1">
                <a:solidFill>
                  <a:srgbClr val="2458A6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583680" cy="105156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0515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65376"/>
            <a:ext cx="623620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Groceries is the highest-revenue category in this calculation.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6236208" cy="4846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It contributes 52.1% of net revenue (R1,508,320.51).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6583680" cy="105156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73152" cy="10515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865376"/>
            <a:ext cx="623620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Western Cape has the highest revenue by province.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40280"/>
            <a:ext cx="6236208" cy="4846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It contributes 39.7% of net revenue (R1,149,817.84).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6583680" cy="105156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1737360"/>
            <a:ext cx="73152" cy="10515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1865376"/>
            <a:ext cx="623620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Revenue varies by month.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240280"/>
            <a:ext cx="6236208" cy="484631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The monthly total ranges from R138,925.65 to R172,117.58 across the period.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737360"/>
            <a:ext cx="3657600" cy="1920240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1737360"/>
            <a:ext cx="73152" cy="192024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1865376"/>
            <a:ext cx="331012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Strategy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240280"/>
            <a:ext cx="3310128" cy="13533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200" b="0">
                <a:solidFill>
                  <a:srgbClr val="2C3645"/>
                </a:solidFill>
                <a:latin typeface="Aptos"/>
              </a:defRPr>
            </a:pPr>
            <a:r>
              <a:t>Investigate the drivers behind the strongest category and province, then compare margin, stock availability and monthly patterns before deciding where to focus promotions or operational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10607040" cy="658368"/>
          </a:xfrm>
          <a:prstGeom prst="roundRect">
            <a:avLst/>
          </a:prstGeom>
          <a:solidFill>
            <a:srgbClr val="F6F9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73152" cy="658368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294376"/>
            <a:ext cx="10259567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Dashboard slicers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669280"/>
            <a:ext cx="10259567" cy="91439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000" b="0">
                <a:solidFill>
                  <a:srgbClr val="2C3645"/>
                </a:solidFill>
                <a:latin typeface="Aptos"/>
              </a:defRPr>
            </a:pPr>
            <a:r>
              <a:t>Add Year, Region and Channel slicers where source fields exist. Channel cannot yet be split online vs in-store from the supplied transactions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515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900" b="0">
                <a:solidFill>
                  <a:srgbClr val="697482"/>
                </a:solidFill>
                <a:latin typeface="Aptos"/>
              </a:defRPr>
            </a:pPr>
            <a:r>
              <a:t>Customer satisfaction rating and online/store channel visuals are pending because no customer-feedback file or explicit channel field was included in the six supplied CSVs.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700" b="1">
                <a:solidFill>
                  <a:srgbClr val="18274B"/>
                </a:solidFill>
                <a:latin typeface="Aptos"/>
              </a:defRPr>
            </a:pPr>
            <a:r>
              <a:t>Project 4: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804672" cy="64008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438912"/>
            <a:ext cx="201168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900" b="1">
                <a:solidFill>
                  <a:srgbClr val="2458A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308152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1. Load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308152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pandas is a Python library for working with tabular data. It loads CSV files into DataFrames, which make rows and columns easier to inspect and analyse.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1417320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56816"/>
            <a:ext cx="308152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2. Inspect the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08152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Use head() to preview the first five rows and check that the column names and values look as expected.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141732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56816"/>
            <a:ext cx="3081528" cy="310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500" b="1">
                <a:solidFill>
                  <a:srgbClr val="18274B"/>
                </a:solidFill>
                <a:latin typeface="Aptos"/>
              </a:defRPr>
            </a:pPr>
            <a:r>
              <a:t>3. Check missing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31720"/>
            <a:ext cx="3081528" cy="8503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100" b="0">
                <a:solidFill>
                  <a:srgbClr val="2C3645"/>
                </a:solidFill>
                <a:latin typeface="Aptos"/>
              </a:defRPr>
            </a:pPr>
            <a:r>
              <a:t>Use isna().sum() to count missing values in each column before deciding how to handle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94760"/>
            <a:ext cx="10515600" cy="1188720"/>
          </a:xfrm>
          <a:prstGeom prst="roundRect">
            <a:avLst/>
          </a:prstGeom>
          <a:solidFill>
            <a:srgbClr val="F6F8FC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904488"/>
            <a:ext cx="10186416" cy="1005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400" b="0">
                <a:solidFill>
                  <a:srgbClr val="18274B"/>
                </a:solidFill>
                <a:latin typeface="Consolas"/>
              </a:defRPr>
            </a:pPr>
            <a:r>
              <a:t>import pandas as pd\ntransactions = pd.read_csv("transactions.csv")\nprint(transactions.head())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731520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188720"/>
            <a:ext cx="822960" cy="64008"/>
          </a:xfrm>
          <a:prstGeom prst="rect">
            <a:avLst/>
          </a:prstGeom>
          <a:solidFill>
            <a:srgbClr val="EC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955279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2000" b="1">
                <a:solidFill>
                  <a:srgbClr val="ECB548"/>
                </a:solidFill>
                <a:latin typeface="Aptos"/>
              </a:defRPr>
            </a:pPr>
            <a:r>
              <a:t>What I take from this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424160" cy="342900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I learned that data analysis is a process: understand the question, prepare the data, analyse it and communicate what it means.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Working with real project files helped me see why data quality and correct calculations matter.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Each tool has a role: SQL retrieves data, Python can explore and prepare it, and Power BI communicates results visually.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I gained experience working through unfamiliar tools and learned to approach challenges step by step.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I want to keep practising so I can turn accurate analysis into clear, useful business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5897880"/>
            <a:ext cx="21945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defRPr sz="1800" b="1">
                <a:solidFill>
                  <a:srgbClr val="ECB548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1303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Onalenna Nakedi</dc:creator>
  <cp:keywords/>
  <dc:description>generated using python-pptx</dc:description>
  <cp:lastModifiedBy>Onalenna Nakedi</cp:lastModifiedBy>
  <cp:revision>2</cp:revision>
  <dcterms:created xsi:type="dcterms:W3CDTF">2013-01-27T09:14:16Z</dcterms:created>
  <dcterms:modified xsi:type="dcterms:W3CDTF">2026-10-18T12:54:49Z</dcterms:modified>
  <cp:category/>
</cp:coreProperties>
</file>